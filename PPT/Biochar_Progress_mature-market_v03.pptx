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Carbon Policy Design for a Wisconsin Biochar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Market Clearing, Endogenous Carbon Prices, and Technology Choice  |  Progress report,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72 counties, 13 feedstocks, T1 drying + T2 pyrolysis (300/500°C), 39 technologies</a:t>
            </a:r>
          </a:p>
          <a:p>
            <a:pPr>
              <a:spcAft>
                <a:spcPts val="800"/>
              </a:spcAft>
              <a:defRPr sz="1600"/>
            </a:pPr>
            <a:r>
              <a:t>Three policy paradigms: baseline-and-credit | cap-and-trade (endogenous price) | tiered tax + VM0044 eligibility</a:t>
            </a:r>
          </a:p>
          <a:p>
            <a:pPr>
              <a:spcAft>
                <a:spcPts val="800"/>
              </a:spcAft>
              <a:defRPr sz="1600"/>
            </a:pPr>
            <a:r>
              <a:t>Data: DOE Billion-Ton 2023 (near-term / mature-market) + USDA NASS + USFS FIA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Q1: How should carbon policy enter a supply chain optimization model so that it genuinely changes locations, technology, and output?</a:t>
            </a:r>
          </a:p>
          <a:p>
            <a:pPr>
              <a:spcAft>
                <a:spcPts val="800"/>
              </a:spcAft>
              <a:defRPr sz="1600"/>
            </a:pPr>
            <a:r>
              <a:t>Q2: What is the ENDOGENOUS carbon price of such a system, and how does it compare with RGGI / EU ETS / VM0044 markets?</a:t>
            </a:r>
          </a:p>
          <a:p>
            <a:pPr>
              <a:spcAft>
                <a:spcPts val="800"/>
              </a:spcAft>
              <a:defRPr sz="1600"/>
            </a:pPr>
            <a:r>
              <a:t>Q3: Which policy design performs best on cost, removal, and system expansion?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Modeling Framework (Sampat 2019 market clearing)</a:t>
            </a:r>
          </a:p>
        </p:txBody>
      </p:sp>
      <p:pic>
        <p:nvPicPr>
          <p:cNvPr id="3" name="Picture 2" descr="fig0_super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9875520" cy="61299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Duals of mass balances = spatial inherent values (equilibrium prices under coordination)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Baseline Market Equilibrium (mature-market medium)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Equilibrium: 2.30 Mt biochar/yr — H ($800) and M ($500) fully served; L ($250) unserved (marginal cost &gt; price)</a:t>
            </a:r>
          </a:p>
          <a:p>
            <a:pPr>
              <a:spcAft>
                <a:spcPts val="800"/>
              </a:spcAft>
              <a:defRPr sz="1600"/>
            </a:pPr>
            <a:r>
              <a:t>System surplus $708M/yr (near-term) | $736M/yr (mature-market)</a:t>
            </a:r>
          </a:p>
          <a:p>
            <a:pPr>
              <a:spcAft>
                <a:spcPts val="800"/>
              </a:spcAft>
              <a:defRPr sz="1600"/>
            </a:pPr>
            <a:r>
              <a:t>Net removal: -1.60 Mt CO2e/yr (process +979 kt, transport +24 kt, removal -2,598 kt)</a:t>
            </a:r>
          </a:p>
          <a:p>
            <a:pPr>
              <a:spcAft>
                <a:spcPts val="800"/>
              </a:spcAft>
              <a:defRPr sz="1600"/>
            </a:pPr>
            <a:r>
              <a:t>Corn stover 5.9 Mt wet fully utilized; facilities T1=78, T2-300=38</a:t>
            </a:r>
          </a:p>
        </p:txBody>
      </p:sp>
      <p:pic>
        <p:nvPicPr>
          <p:cNvPr id="4" name="Picture 3" descr="fig1_fac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120640" cy="62845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Clearing: Inherent Values from LP Duals</a:t>
            </a:r>
          </a:p>
        </p:txBody>
      </p:sp>
      <p:pic>
        <p:nvPicPr>
          <p:cNvPr id="3" name="Picture 2" descr="fig4_iv_bioc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394960" cy="5400415"/>
          </a:xfrm>
          <a:prstGeom prst="rect">
            <a:avLst/>
          </a:prstGeom>
        </p:spPr>
      </p:pic>
      <p:pic>
        <p:nvPicPr>
          <p:cNvPr id="4" name="Picture 3" descr="fig5_iv_bio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394960" cy="5180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Biochar inherent value $305-345/t (near-term) vs $260-288/t (mature): abundant supply flattens location rents</a:t>
            </a:r>
          </a:p>
          <a:p>
            <a:pPr>
              <a:spcAft>
                <a:spcPts val="800"/>
              </a:spcAft>
              <a:defRPr sz="1300"/>
            </a:pPr>
            <a:r>
              <a:t>Wet biomass value ($0-77/t) far below farmgate: system is demand-constrained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Paradigm A: Baseline-and-Credit</a:t>
            </a:r>
          </a:p>
        </p:txBody>
      </p:sp>
      <p:pic>
        <p:nvPicPr>
          <p:cNvPr id="3" name="Picture 2" descr="fig6_polic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338560" cy="13848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949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Credits scale with throughput → policy moves the solution</a:t>
            </a:r>
          </a:p>
          <a:p>
            <a:pPr>
              <a:spcAft>
                <a:spcPts val="800"/>
              </a:spcAft>
              <a:defRPr sz="1400"/>
            </a:pPr>
            <a:r>
              <a:t>p_c=$25/t activates the bulk segment; $200/t mobilizes ~100% of near-term biomass (surplus $3.36B/yr)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Paradigm B: Cap-and-Trade — Endogenous Carbon Price</a:t>
            </a:r>
          </a:p>
        </p:txBody>
      </p:sp>
      <p:pic>
        <p:nvPicPr>
          <p:cNvPr id="3" name="Picture 2" descr="fig7_policyB_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338560" cy="4632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949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Vertex dual of the emission cap = endogenous carbon price; MAC ≈ $351-391/tCO2e first binding intervals, rising to $599 (above EU ETS &amp; voluntary prices)</a:t>
            </a:r>
          </a:p>
          <a:p>
            <a:pPr>
              <a:spcAft>
                <a:spcPts val="800"/>
              </a:spcAft>
              <a:defRPr sz="1400"/>
            </a:pPr>
            <a:r>
              <a:t>Net emission caps NEVER bind (π=0): net-negative systems need explicit removal 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Paradigm C: Tiered Tax + VM0044 Eligibility</a:t>
            </a:r>
          </a:p>
        </p:txBody>
      </p:sp>
      <p:pic>
        <p:nvPicPr>
          <p:cNvPr id="3" name="Picture 2" descr="fig8_policyC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338560" cy="4955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949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H/C ≤ 0.7 gate: ALL 300°C biochar is torrefaction-like (H/C 0.9-1.4) → zero credits; 500°C (H/C 0.40-0.52) always qualifies</a:t>
            </a:r>
          </a:p>
          <a:p>
            <a:pPr>
              <a:spcAft>
                <a:spcPts val="800"/>
              </a:spcAft>
              <a:defRPr sz="1400"/>
            </a:pPr>
            <a:r>
              <a:t>Crediting converts the system to 500°C as p_c rises: 2.25 Mt near-term / 4.25 Mt mature at $200/t — credits buy durability, not tonnes</a:t>
            </a:r>
          </a:p>
          <a:p>
            <a:pPr>
              <a:spcAft>
                <a:spcPts val="800"/>
              </a:spcAft>
              <a:defRPr sz="1400"/>
            </a:pPr>
            <a:r>
              <a:t>Stress test (500°C H/C +0.25, beyond published range): conversion falls back to 0.31/1.59 Mt — robust within the 0.40-0.55 literature band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Policy Comparison</a:t>
            </a:r>
          </a:p>
        </p:txBody>
      </p:sp>
      <p:pic>
        <p:nvPicPr>
          <p:cNvPr id="3" name="Picture 2" descr="fig9_polic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338560" cy="81605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Sensitivity: Demand-side Dominance</a:t>
            </a:r>
          </a:p>
        </p:txBody>
      </p:sp>
      <p:pic>
        <p:nvPicPr>
          <p:cNvPr id="3" name="Picture 2" descr="fig10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766560" cy="3855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64592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Demand price ±20% → surplus ±39% (largest lever)</a:t>
            </a:r>
          </a:p>
          <a:p>
            <a:pPr>
              <a:spcAft>
                <a:spcPts val="800"/>
              </a:spcAft>
              <a:defRPr sz="1500"/>
            </a:pPr>
            <a:r>
              <a:t>Demand capacity -20% → quantity -20%</a:t>
            </a:r>
          </a:p>
          <a:p>
            <a:pPr>
              <a:spcAft>
                <a:spcPts val="800"/>
              </a:spcAft>
              <a:defRPr sz="1500"/>
            </a:pPr>
            <a:r>
              <a:t>Farmgate ±20% → ±9%; transport ±1% (supply-side minor)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Multi-period / seasonal inventory extension (advisor direction)</a:t>
            </a:r>
          </a:p>
          <a:p>
            <a:pPr>
              <a:spcAft>
                <a:spcPts val="800"/>
              </a:spcAft>
              <a:defRPr sz="1600"/>
            </a:pPr>
            <a:r>
              <a:t>BT23 wastes layer characterized (2.27 Mt at &lt;=$70/t, dairy manure 1.13 Mt) for co-location analysis</a:t>
            </a:r>
          </a:p>
          <a:p>
            <a:pPr>
              <a:spcAft>
                <a:spcPts val="800"/>
              </a:spcAft>
              <a:defRPr sz="1600"/>
            </a:pPr>
            <a:r>
              <a:t>Tighten MIP gaps on HPC; VM0044 durability factors aligned (0.65/0.80, v1.2 Table 3)</a:t>
            </a:r>
          </a:p>
          <a:p>
            <a:pPr>
              <a:spcAft>
                <a:spcPts val="800"/>
              </a:spcAft>
              <a:defRPr sz="1600"/>
            </a:pPr>
            <a:r>
              <a:t>Sensitivity on adoption rate &amp; quality premium 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