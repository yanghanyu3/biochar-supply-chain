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2514600"/>
            <a:ext cx="9601200" cy="36576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威斯康星生物炭供应链：碳政策设计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DD"/>
                </a:solidFill>
                <a:latin typeface="微软雅黑"/>
              </a:defRPr>
            </a:pPr>
            <a:r>
              <a:t>市场出清 · 影子碳价 · 技术选择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微软雅黑"/>
              </a:defRPr>
            </a:pPr>
            <a:r>
              <a:t>导师汇报 ｜ 2026 年 9 月 15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微软雅黑"/>
              </a:defRPr>
            </a:pPr>
            <a:r>
              <a:t>72 个县 ｜ 13 类原料 ｜ 两种热解温度（300 / 500 °C）</a:t>
            </a:r>
            <a:br/>
            <a:r>
              <a:t>数据来源：DOE BT23 (2023) + USDA NASS (2022) + USFS FIA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本次重点：逐图讲解 + 回答温度选择的依据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07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研究框架总览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721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系统边界：原料 → 工厂 → 生物炭 → 四类买家；碳信用如何产生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47672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为什么是 300 / 500 两个温度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854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回应导师意见：只做 300 °C 会丢掉整条碳政策主线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60904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33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基准情景：不施政策会发生什么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986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工厂选址、收支结构、市场均衡点 2.30 Mt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46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空间价值与真正的瓶颈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118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各县影子价格；秸秆几乎不值钱 → 缺的是需求不是原料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087368"/>
            <a:ext cx="384048" cy="384048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59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三套政策的响应对比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251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基准线信用 / 总量控制 / 阶梯税 + H/C 门槛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800600"/>
            <a:ext cx="384048" cy="384048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73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技术选择机制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383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什么时候该把温度从 300 升到 500 °C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513832"/>
            <a:ext cx="384048" cy="384048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微软雅黑"/>
              </a:defRPr>
            </a:pPr>
            <a:r>
              <a:t>稳健性与结论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7515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微软雅黑"/>
              </a:defRPr>
            </a:pPr>
            <a:r>
              <a:t>敏感性、求解质量认证、下一步计划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研究框架总览（图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系统边界与三套政策的碳核算口径</a:t>
            </a:r>
          </a:p>
        </p:txBody>
      </p:sp>
      <p:pic>
        <p:nvPicPr>
          <p:cNvPr id="5" name="Picture 4" descr="fig0_super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120640" cy="4455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23444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"/>
              </a:spcAft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面板 I：物料与碳的流向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13 类原料（玉米秸秆、木屑等）在 72 个县收集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T1 脱水 → T2 热解（分 300 / 500 °C 两条路线）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生物炭卖给四类买家：H（$800，0.8 Mt，企业买碳信用）、M（$500，1.5 Mt）、L（$250，2.5 Mt）、sink（$30，建材过滤）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虚线向上是「碳信用」流：只有 H/C ≤ 0.7 的炭才发</a:t>
            </a:r>
          </a:p>
          <a:p>
            <a:pPr>
              <a:spcAft>
                <a:spcPts val="44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97"/>
              </a:spcAft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面板 II：三套政策为什么要分开画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它们的碳核算口径完全不同，画在同一张流程图里会误导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A 基准线信用：只要生产就发，额度 = B − E⁺ + |S|，无门槛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B 总量控制：排放 E⁺ ≤ 上限 CAP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C 阶梯税 + H/C 门槛：只有合格炭发信用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每格下部虚线标出该政策的「约束边界」；最右是符号表</a:t>
            </a:r>
          </a:p>
          <a:p>
            <a:pPr>
              <a:spcAft>
                <a:spcPts val="44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2"/>
              </a:spcAft>
              <a:defRPr sz="1100" b="1">
                <a:solidFill>
                  <a:srgbClr val="E07A3D"/>
                </a:solidFill>
                <a:latin typeface="微软雅黑"/>
              </a:defRPr>
            </a:pPr>
            <a:r>
              <a:t>一句话：这张图定义了模型边界，也是后面所有结论的前提。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为什么采用 300 °C 与 500 °C 两个温度？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回应导师意见「只考虑 300 °C 低温热解」—— 扩展的依据与代价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566928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"/>
              </a:spcAft>
              <a:defRPr sz="1250" b="1">
                <a:solidFill>
                  <a:srgbClr val="8B4513"/>
                </a:solidFill>
                <a:latin typeface="微软雅黑"/>
              </a:defRPr>
            </a:pPr>
            <a:r>
              <a:t>结论先行：只做 300 °C 的话，碳移除这条研究主线无法成立 —— 300 °C 生物炭在现行方法学下拿不到任何碳信用。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理由一：碳信用资格（最关键）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Verra VM0044 要求摩尔 H/C ≤ 0.7 才签发碳移除信用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300 °C 炭属「类半焦」(torrefaction-like)，实测 H/C = 0.9–1.4 → 全部不合格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500 °C 炭 H/C = 0.40–0.52 → 全部合格</a:t>
            </a:r>
          </a:p>
          <a:p>
            <a:pPr>
              <a:spcAft>
                <a:spcPts val="78"/>
              </a:spcAft>
              <a:defRPr sz="1050" b="1">
                <a:solidFill>
                  <a:srgbClr val="C0392B"/>
                </a:solidFill>
                <a:latin typeface="微软雅黑"/>
              </a:defRPr>
            </a:pPr>
            <a:r>
              <a:t>• 若只保留 300 °C，模型中所有碳信用收入为 0，政策分析无从谈起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理由二：高端市场需求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1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$800/吨的 CDR 溢价市场（企业采购碳移除）要求耐久性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只有低 H/C 的 500 °C 炭能进入这个市场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300 °C 炭只能卖给 $250–500 的农用/工业介质市场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所以「烧多少度」直接决定产品能卖给谁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20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理由三：300 °C 的固碳持久性本身存疑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22191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论文采用的 ρ₃₀₀ = 0.65 取自 IPCC / VM0044 的 350–450 °C 档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低于 350 °C 的炭，持久性可能更低（论文已明确标注该不确定性）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即：「300 °C 能固定碳 100 年」这一说法，证据反而更弱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20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理由四：两者构成真实的经济权衡（论文核心机制）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22191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300 °C：产率高（0.38 vs 0.30 t/t）、成本低，但拿不到碳钱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500 °C：产率低，但能拿碳钱 + 进高端市场</a:t>
            </a:r>
          </a:p>
          <a:p>
            <a:pPr>
              <a:spcAft>
                <a:spcPts val="78"/>
              </a:spcAft>
              <a:defRPr sz="1050" b="1">
                <a:solidFill>
                  <a:srgbClr val="E07A3D"/>
                </a:solidFill>
                <a:latin typeface="微软雅黑"/>
              </a:defRPr>
            </a:pPr>
            <a:r>
              <a:t>• 于是温度不再是工程常数，而是由碳价决定的经济决策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• 这正是论文最有价值的发现：碳政策门槛如何改变技术路线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49240"/>
          <a:ext cx="109728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2103120"/>
                <a:gridCol w="237744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产率 (t/t)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H/C 实测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碳信用资格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产品可进入的市场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800">
                          <a:latin typeface="微软雅黑"/>
                        </a:defRPr>
                      </a:pPr>
                      <a:r>
                        <a:t>300 °C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0.9 – 1.4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不合格（全部）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农用 / 工业介质（$250–500）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800">
                          <a:latin typeface="微软雅黑"/>
                        </a:defRPr>
                      </a:pPr>
                      <a:r>
                        <a:t>500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0.40 – 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合格（全部）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CDR 溢价 + 农用 + 工业（$250–800）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3A5C"/>
                </a:solidFill>
                <a:latin typeface="微软雅黑"/>
              </a:defRPr>
            </a:pPr>
            <a:r>
              <a:t>诚实说明：模型把温度当作两条离散路线比较，不是连续优化；中间温度与竞争技术（气化、水热碳化）未建模，已写入论文局限性。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基准情景：不施政策会发生什么（图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近中期 · 无政策 · 系统最优布局</a:t>
            </a:r>
          </a:p>
        </p:txBody>
      </p:sp>
      <p:pic>
        <p:nvPicPr>
          <p:cNvPr id="5" name="Picture 4" descr="fig2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9720374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4348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 — 地图：工厂建在哪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颜色深浅 = 该县可收集生物质总量；圆圈 = 脱水厂，菱形 = 热解厂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工厂全部集中在**中部与南部玉米带**——那里原料最便宜，就近加工省运费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标注了设施最多的 6 个县（Barron / Chippewa / Clark / Dane 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4348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II — 收支：钱从哪来到哪去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生物炭销售 +1390，买原料 −322，运营 −228，运输 −37，设备年化 −95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净剩 708 M$/年</a:t>
            </a:r>
          </a:p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III — 市场均衡：做多少就停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阶梯需求：0–0.8 Mt 出 $800；0.8–2.3 Mt 出 $500；2.3–4.8 Mt 只出 $250</a:t>
            </a:r>
          </a:p>
          <a:p>
            <a:pPr>
              <a:spcAft>
                <a:spcPts val="74"/>
              </a:spcAft>
              <a:defRPr sz="1000" b="1">
                <a:solidFill>
                  <a:srgbClr val="E07A3D"/>
                </a:solidFill>
                <a:latin typeface="微软雅黑"/>
              </a:defRPr>
            </a:pPr>
            <a:r>
              <a:t>• 均衡点 2.30 Mt：再做一吨的成本已超过 $250 的买价，于是停产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空间价值与真正的瓶颈（图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质量平衡约束的对偶变量 = 各节点的「影子价格」</a:t>
            </a:r>
          </a:p>
        </p:txBody>
      </p:sp>
      <p:pic>
        <p:nvPicPr>
          <p:cNvPr id="5" name="Picture 4" descr="fig3_inherent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9358784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3434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什么是「影子价格」？问模型：某个县再多给我 1 吨生物炭，我总共能多赚多少钱？这个数就是该县的影子价格。它不是市场挂牌价，而是在当前布局下的边际价值。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面板 I：各县生物炭影子价格 $305–345/吨 —— 同样的炭，在不同位置价值不同。</a:t>
            </a:r>
          </a:p>
          <a:p>
            <a:pPr>
              <a:spcAft>
                <a:spcPts val="78"/>
              </a:spcAft>
              <a:defRPr sz="1050" b="1">
                <a:solidFill>
                  <a:srgbClr val="C0392B"/>
                </a:solidFill>
                <a:latin typeface="微软雅黑"/>
              </a:defRPr>
            </a:pPr>
            <a:r>
              <a:t>面板 II（关键）：玉米秸秆的影子价格只有 $39–77/吨，远低于农场卖价，其他原料几乎为 0。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　　　 → 说明原料本身不缺：再多给原料也赚不到钱。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面板 III：县 × 原料 供给热力图。玉米秸秆一条独大（模型 13 类原料中，近中期实际有产量的 9 类），这解释了工厂为何扎堆玉米带。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6"/>
              </a:spcAft>
              <a:defRPr sz="1150" b="1">
                <a:solidFill>
                  <a:srgbClr val="E07A3D"/>
                </a:solidFill>
                <a:latin typeface="微软雅黑"/>
              </a:defRPr>
            </a:pPr>
            <a:r>
              <a:t>结论：瓶颈在需求端，不在原料端。这是后面所有政策分析的出发点。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三套政策的响应对比（图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A 基准线信用 · C 阶梯税 + H/C 门槛 · B 排放上限</a:t>
            </a:r>
          </a:p>
        </p:txBody>
      </p:sp>
      <p:pic>
        <p:nvPicPr>
          <p:cNvPr id="5" name="Picture 4" descr="fig4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766560" cy="4675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1234440"/>
            <a:ext cx="4663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 / II：同样发钱，效果差 4 倍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A（信用）把产量从 2.3 推到 2.85 Mt，盈余 708 → 3361 M$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C（带 H/C 门槛）产量几乎不动，盈余只到 1141 M$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原因：门槛只奖励「合格炭」，不奖励「多生产」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III：减排到底有多贵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横轴 = 少排多少吨，纵轴 = 少排一吨要花多少钱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本系统减排一吨要 $351–599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而真实碳市场：RGGI $17–25、EU ETS €50–90</a:t>
            </a:r>
          </a:p>
          <a:p>
            <a:pPr>
              <a:spcAft>
                <a:spcPts val="74"/>
              </a:spcAft>
              <a:defRPr sz="1000" b="1">
                <a:solidFill>
                  <a:srgbClr val="C0392B"/>
                </a:solidFill>
                <a:latin typeface="微软雅黑"/>
              </a:defRPr>
            </a:pPr>
            <a:r>
              <a:t>• → 「惩罚排放」在这个系统里既贵又无效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IV：技术组合怎么变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$0–50 全是 300 °C；$100 起全部转为 500 °C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6"/>
              </a:spcAft>
              <a:defRPr sz="1150" b="1">
                <a:solidFill>
                  <a:srgbClr val="E07A3D"/>
                </a:solidFill>
                <a:latin typeface="微软雅黑"/>
              </a:defRPr>
            </a:pPr>
            <a:r>
              <a:t>核心结论：政策设计比政策力度更重要。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技术选择机制：什么时候该升温（图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信用率怎么算 · 交叉价在哪里</a:t>
            </a:r>
          </a:p>
        </p:txBody>
      </p:sp>
      <p:pic>
        <p:nvPicPr>
          <p:cNvPr id="5" name="Picture 4" descr="fig5_credit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974057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5196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I：两种口径算出的信用率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A 口径 B − E⁺ + |S|：所有原料、所有温度都发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C2 口径 |S|：只有 H/C ≤ 0.7 的 500 °C 炭能拿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图上明确标注：C2 下 300 °C 的柱子恒为 0（不合格）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25196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9"/>
              </a:spcAft>
              <a:defRPr sz="1200" b="1">
                <a:solidFill>
                  <a:srgbClr val="1B3A5C"/>
                </a:solidFill>
                <a:latin typeface="微软雅黑"/>
              </a:defRPr>
            </a:pPr>
            <a:r>
              <a:t>面板 II：交叉价（本图最有信息量）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问：碳价多高时，改烧 500 °C 才划算？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原料充裕（需求受限）时：$61/吨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原料紧张（供给受限）时：$239/吨</a:t>
            </a:r>
          </a:p>
          <a:p>
            <a:pPr>
              <a:spcAft>
                <a:spcPts val="74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• 面板 III：把生物炭拆成 BC300 / BC500 两种产品后的产量构成</a:t>
            </a:r>
          </a:p>
          <a:p>
            <a:pPr>
              <a:spcAft>
                <a:spcPts val="82"/>
              </a:spcAft>
              <a:defRPr sz="1100" b="1">
                <a:solidFill>
                  <a:srgbClr val="E07A3D"/>
                </a:solidFill>
                <a:latin typeface="微软雅黑"/>
              </a:defRPr>
            </a:pPr>
            <a:r>
              <a:t>一句话：温度决定能不能拿碳钱；该不该升温，取决于原料紧不紧张。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结果稳健吗（图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单因素敏感性 + 需求二维网格</a:t>
            </a:r>
          </a:p>
        </p:txBody>
      </p:sp>
      <p:pic>
        <p:nvPicPr>
          <p:cNvPr id="5" name="Picture 4" descr="fig6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9103995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2628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面板 I — 龙卷风图：把每个假设单独上下调 20%，看盈余变动多少。柱越长 = 越敏感。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　需求价格 ±39%（最敏感）；需求容量次之；原料价格、运输成本影响很小。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面板 II — 需求热力图：5×5 网格（需求量 × 需求价格），盈余从 $67 M 到 $1,406 M，两个维度都单调影响，其中价格是更大的杠杆。</a:t>
            </a:r>
          </a:p>
          <a:p>
            <a:pPr>
              <a:spcAft>
                <a:spcPts val="37"/>
              </a:spcAft>
              <a:defRPr sz="5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补充检验（不在本图）：求解质量认证 —— 把最差的求解点重跑到 0.1% 精度，并把扫描顺序正着跑和倒着跑各一次，结果差异 ≤ 0.2%。</a:t>
            </a:r>
          </a:p>
          <a:p>
            <a:pPr>
              <a:spcAft>
                <a:spcPts val="86"/>
              </a:spcAft>
              <a:defRPr sz="1150" b="1">
                <a:solidFill>
                  <a:srgbClr val="E07A3D"/>
                </a:solidFill>
                <a:latin typeface="微软雅黑"/>
              </a:defRPr>
            </a:pPr>
            <a:r>
              <a:t>结论：结论对需求侧假设最敏感 —— 再次印证「需求是瓶颈」。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微软雅黑"/>
              </a:defRPr>
            </a:pPr>
            <a:r>
              <a:t>2026 年 9 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"/>
              </a:spcAft>
              <a:defRPr sz="1300" b="1">
                <a:solidFill>
                  <a:srgbClr val="1B3A5C"/>
                </a:solidFill>
                <a:latin typeface="微软雅黑"/>
              </a:defRPr>
            </a:pPr>
            <a:r>
              <a:t>三条主要结论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1. 需求是瓶颈，不是原料。秸秆影子价格接近零，说明多加原料也赚不到钱。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2. 政策设计比政策力度更重要。发信用能扩张系统，但真正决定「烧多少度」的是 H/C 门槛。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3. 惩罚排放这条政策在本系统里很贵（$351–599/吨），远高于真实碳市场，所以应当围绕「碳移除」而不是「碳排放」来设计政策。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577840" cy="23774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"/>
              </a:spcAft>
              <a:defRPr sz="1300" b="1">
                <a:solidFill>
                  <a:srgbClr val="8B4513"/>
                </a:solidFill>
                <a:latin typeface="微软雅黑"/>
              </a:defRPr>
            </a:pPr>
            <a:r>
              <a:t>下一步计划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1. 完成审稿意见的逐条回应（已修订 15 处、新增 4 张诊断图与 3 张表），论文改为「条件性结论」表述。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2. 补齐求解质量认证与需求情景族实验（正在运行）。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3. 投稿目标期刊：Computers &amp; Chemical Engineering。</a:t>
            </a:r>
          </a:p>
          <a:p>
            <a:pPr>
              <a:spcAft>
                <a:spcPts val="78"/>
              </a:spcAft>
              <a:defRPr sz="1050" b="0">
                <a:solidFill>
                  <a:srgbClr val="333333"/>
                </a:solidFill>
                <a:latin typeface="微软雅黑"/>
              </a:defRPr>
            </a:pPr>
            <a:r>
              <a:t>4. 后续扩展：多周期与季节性库存、厌氧消化（奶业）整合。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微软雅黑"/>
              </a:defRPr>
            </a:pPr>
            <a:r>
              <a:t>需要请教导师的三个问题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1. 温度路线的定位：是否认可「300 °C 拿不到碳信用」这一前提？若希望保留纯 300 °C 情景，可作为对比情景补充，但需明确它无法获得碳移除收入。</a:t>
            </a:r>
          </a:p>
          <a:p>
            <a:pPr>
              <a:spcAft>
                <a:spcPts val="82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2. 论文的核心主张是否收窄到「威斯康星特定参数下的条件性发现」？这是审稿意见的要求，也牺牲了一部分「普遍规律」的表述。</a:t>
            </a:r>
          </a:p>
          <a:p>
            <a:pPr>
              <a:spcAft>
                <a:spcPts val="82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3. 渠道：$800/吨的 CDR 溢价容量设为 0.8 Mt，是全国市场代理，是否需要改用更保守的采用率假设？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